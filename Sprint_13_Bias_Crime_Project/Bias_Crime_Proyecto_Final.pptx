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8" r:id="rId14"/>
    <p:sldId id="268" r:id="rId15"/>
    <p:sldId id="269" r:id="rId16"/>
    <p:sldId id="271" r:id="rId18"/>
    <p:sldId id="270" r:id="rId17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7"/>
  </p:normalViewPr>
  <p:slideViewPr>
    <p:cSldViewPr snapToGrid="0" snapToObjects="1">
      <p:cViewPr varScale="1">
        <p:scale>
          <a:sx n="101" d="100"/>
          <a:sy n="101" d="100"/>
        </p:scale>
        <p:origin x="10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19C082-8B20-3340-A27B-6F49714865A1}" type="datetimeFigureOut">
              <a:rPr lang="es-ES_tradnl" smtClean="0"/>
              <a:t>28/5/26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218A4-15C4-4E40-9DED-E3FA8351CC6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83427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218A4-15C4-4E40-9DED-E3FA8351CC65}" type="slidenum">
              <a:rPr lang="es-ES_tradnl" smtClean="0"/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4965371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72400" y="-914400"/>
            <a:ext cx="5943600" cy="5943600"/>
          </a:xfrm>
          <a:prstGeom prst="ellipse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2926080"/>
            <a:ext cx="4389120" cy="4389120"/>
          </a:xfrm>
          <a:prstGeom prst="ellipse">
            <a:avLst/>
          </a:prstGeom>
          <a:solidFill>
            <a:srgbClr val="0A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3108960" cy="347472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53035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ESPECIALIZACIÓN DATA ANALYST 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mbria"/>
              </a:rPr>
              <a:t>Análisis de Bias Crime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D4DCE6"/>
                </a:solidFill>
                <a:latin typeface="Cambria"/>
              </a:rPr>
              <a:t>en Washington D.C.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97480"/>
            <a:ext cx="5029200" cy="36576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880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4DCE6"/>
                </a:solidFill>
                <a:latin typeface="Calibri"/>
              </a:rPr>
              <a:t>Limpieza, transformación y visualización de datos públicos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5216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8CA0"/>
                </a:solidFill>
                <a:latin typeface="Calibri"/>
              </a:rPr>
              <a:t>Jose Manuel Romero García
Especialización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6F8A"/>
                </a:solidFill>
                <a:latin typeface="Calibri"/>
              </a:rPr>
              <a:t>01 / INTRODUCCIÓN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530352"/>
            <a:ext cx="54864" cy="64008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2A3A"/>
                </a:solidFill>
                <a:latin typeface="Cambria"/>
              </a:rPr>
              <a:t>Introducción al proyecto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627632"/>
            <a:ext cx="11430000" cy="22860"/>
          </a:xfrm>
          <a:prstGeom prst="rect">
            <a:avLst/>
          </a:prstGeom>
          <a:solidFill>
            <a:srgbClr val="D4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828800"/>
            <a:ext cx="521208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828800"/>
            <a:ext cx="45720" cy="4572000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4A6F8A"/>
                </a:solidFill>
                <a:latin typeface="Calibri"/>
              </a:rPr>
              <a:t>Contexto del proyecto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1A2A3A"/>
                </a:solidFill>
                <a:latin typeface="Calibri"/>
              </a:rPr>
              <a:t>Este proyecto analiza registros de delitos motivados por prejuicios (Bias Crimes) en Washington D.C. mediante técnicas de limpieza, transformación y visualización de datos.</a:t>
            </a:r>
          </a:p>
          <a:p>
            <a:pPr algn="l">
              <a:spcBef>
                <a:spcPts val="600"/>
              </a:spcBef>
            </a:pPr>
            <a:r>
              <a:rPr sz="500" b="0" i="0">
                <a:solidFill>
                  <a:srgbClr val="1A2A3A"/>
                </a:solidFill>
                <a:latin typeface="Calibri"/>
              </a:rPr>
              <a:t xml:space="preserve"> 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1A2A3A"/>
                </a:solidFill>
                <a:latin typeface="Calibri"/>
              </a:rPr>
              <a:t>El trabajo se centra en: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2A3A"/>
                </a:solidFill>
                <a:latin typeface="Calibri"/>
              </a:rPr>
              <a:t>→  La preparación y limpieza del dataset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2A3A"/>
                </a:solidFill>
                <a:latin typeface="Calibri"/>
              </a:rPr>
              <a:t>→  La detección de patrones espaciales y temporales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2A3A"/>
                </a:solidFill>
                <a:latin typeface="Calibri"/>
              </a:rPr>
              <a:t>→  La representación geográfica de los incidentes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828800"/>
            <a:ext cx="5943600" cy="13716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2160" y="1828800"/>
            <a:ext cx="54864" cy="13716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9904" y="192024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mbria"/>
              </a:rPr>
              <a:t>1.656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9904" y="27614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CE6"/>
                </a:solidFill>
                <a:latin typeface="Calibri"/>
              </a:rPr>
              <a:t>registros analizados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3355848"/>
            <a:ext cx="5943600" cy="13716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52160" y="3355848"/>
            <a:ext cx="54864" cy="13716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89904" y="3447288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mbria"/>
              </a:rPr>
              <a:t>2012–2024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42885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CE6"/>
                </a:solidFill>
                <a:latin typeface="Calibri"/>
              </a:rPr>
              <a:t>período de cobertura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4882896"/>
            <a:ext cx="5943600" cy="13716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52160" y="4882896"/>
            <a:ext cx="54864" cy="13716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89904" y="4974336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mbria"/>
              </a:rPr>
              <a:t>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4" y="581558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DCE6"/>
                </a:solidFill>
                <a:latin typeface="Calibri"/>
              </a:rPr>
              <a:t>variables originales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88CA0"/>
                </a:solidFill>
                <a:latin typeface="Calibri"/>
              </a:rPr>
              <a:t>02 / OBJETIVOS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530352"/>
            <a:ext cx="54864" cy="9144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Objetivos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4DCE6"/>
                </a:solidFill>
                <a:latin typeface="Calibri"/>
              </a:rPr>
              <a:t>¿Qué queremos analizar y responder?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27632"/>
            <a:ext cx="11430000" cy="22860"/>
          </a:xfrm>
          <a:prstGeom prst="rect">
            <a:avLst/>
          </a:prstGeom>
          <a:solidFill>
            <a:srgbClr val="2C3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577840" cy="47091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577840" cy="502920"/>
          </a:xfrm>
          <a:prstGeom prst="rect">
            <a:avLst/>
          </a:prstGeom>
          <a:solidFill>
            <a:srgbClr val="2C3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4864" cy="470916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88366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Objetivos principales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" y="2542032"/>
            <a:ext cx="310896" cy="310896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2542032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505456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CE6"/>
                </a:solidFill>
                <a:latin typeface="Calibri"/>
              </a:rPr>
              <a:t>Analizar incidentes registrados como Bias Crimes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3456432"/>
            <a:ext cx="310896" cy="310896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" y="3456432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419856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CE6"/>
                </a:solidFill>
                <a:latin typeface="Calibri"/>
              </a:rPr>
              <a:t>Identificar patrones espaciales y temporales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" y="4370831"/>
            <a:ext cx="310896" cy="310896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4370831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334255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CE6"/>
                </a:solidFill>
                <a:latin typeface="Calibri"/>
              </a:rPr>
              <a:t>Realizar limpieza y transformación de datos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" y="5285231"/>
            <a:ext cx="310896" cy="310896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5285231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248655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CE6"/>
                </a:solidFill>
                <a:latin typeface="Calibri"/>
              </a:rPr>
              <a:t>Crear visualizaciones para interpretar los resultados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1828800"/>
            <a:ext cx="5577840" cy="47091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55080" y="1828800"/>
            <a:ext cx="5577840" cy="502920"/>
          </a:xfrm>
          <a:prstGeom prst="rect">
            <a:avLst/>
          </a:prstGeom>
          <a:solidFill>
            <a:srgbClr val="2C3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55080" y="1828800"/>
            <a:ext cx="54864" cy="470916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188366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Preguntas del análisis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6248" y="2542032"/>
            <a:ext cx="310896" cy="310896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56248" y="2542032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2505456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CE6"/>
                </a:solidFill>
                <a:latin typeface="Calibri"/>
              </a:rPr>
              <a:t>¿Dónde se concentran más incidentes?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6248" y="3456432"/>
            <a:ext cx="310896" cy="310896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56248" y="3456432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419856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CE6"/>
                </a:solidFill>
                <a:latin typeface="Calibri"/>
              </a:rPr>
              <a:t>¿Qué tipos de delitos aparecen con mayor frecuencia?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56248" y="4370831"/>
            <a:ext cx="310896" cy="310896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56248" y="4370831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334255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CE6"/>
                </a:solidFill>
                <a:latin typeface="Calibri"/>
              </a:rPr>
              <a:t>¿Qué patrones temporales pueden observarse?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56248" y="5285231"/>
            <a:ext cx="310896" cy="310896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56248" y="5285231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5248655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CE6"/>
                </a:solidFill>
                <a:latin typeface="Calibri"/>
              </a:rPr>
              <a:t>¿Cómo varía la distribución por período presidencial?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6F8A"/>
                </a:solidFill>
                <a:latin typeface="Calibri"/>
              </a:rPr>
              <a:t>03 / FUENTE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530352"/>
            <a:ext cx="54864" cy="9144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2A3A"/>
                </a:solidFill>
                <a:latin typeface="Cambria"/>
              </a:rPr>
              <a:t>Obtención del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88CA0"/>
                </a:solidFill>
                <a:latin typeface="Calibri"/>
              </a:rPr>
              <a:t>Datos abiertos del gobierno federal de EE.UU.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27632"/>
            <a:ext cx="11430000" cy="22860"/>
          </a:xfrm>
          <a:prstGeom prst="rect">
            <a:avLst/>
          </a:prstGeom>
          <a:solidFill>
            <a:srgbClr val="D4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828800"/>
            <a:ext cx="530352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1828800"/>
            <a:ext cx="45720" cy="4663440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92024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4A6F8A"/>
                </a:solidFill>
                <a:latin typeface="Calibri"/>
              </a:rPr>
              <a:t>Fuente: data.gov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1A2A3A"/>
                </a:solidFill>
                <a:latin typeface="Calibri"/>
              </a:rPr>
              <a:t>El dataset fue obtenido desde data.gov, la plataforma oficial de datos abiertos del gobierno de Estados Unidos.</a:t>
            </a:r>
          </a:p>
          <a:p>
            <a:pPr algn="l">
              <a:spcBef>
                <a:spcPts val="600"/>
              </a:spcBef>
            </a:pPr>
            <a:r>
              <a:rPr sz="500" b="0" i="0">
                <a:solidFill>
                  <a:srgbClr val="1A2A3A"/>
                </a:solidFill>
                <a:latin typeface="Calibri"/>
              </a:rPr>
              <a:t xml:space="preserve"> 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1A2A3A"/>
                </a:solidFill>
                <a:latin typeface="Calibri"/>
              </a:rPr>
              <a:t>Información incluida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A2A3A"/>
                </a:solidFill>
                <a:latin typeface="Calibri"/>
              </a:rPr>
              <a:t>→  Fecha del incidente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A2A3A"/>
                </a:solidFill>
                <a:latin typeface="Calibri"/>
              </a:rPr>
              <a:t>→  Tipo de delito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A2A3A"/>
                </a:solidFill>
                <a:latin typeface="Calibri"/>
              </a:rPr>
              <a:t>→  Coordenadas geográficas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A2A3A"/>
                </a:solidFill>
                <a:latin typeface="Calibri"/>
              </a:rPr>
              <a:t>→  Ubicación y distrito policial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A2A3A"/>
                </a:solidFill>
                <a:latin typeface="Calibri"/>
              </a:rPr>
              <a:t>→  Información descriptiva del incidente</a:t>
            </a:r>
          </a:p>
        </p:txBody>
      </p:sp>
      <p:pic>
        <p:nvPicPr>
          <p:cNvPr id="11" name="Picture 10" descr="ALL_slide4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874519"/>
            <a:ext cx="5806440" cy="10241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89320" y="3127248"/>
            <a:ext cx="5806440" cy="3364992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89320" y="3127248"/>
            <a:ext cx="54864" cy="3364992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32735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88CA0"/>
                </a:solidFill>
                <a:latin typeface="Calibri"/>
              </a:rPr>
              <a:t>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5112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Bias-Related Crime Incidents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9684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88CA0"/>
                </a:solidFill>
                <a:latin typeface="Calibri"/>
              </a:rPr>
              <a:t>Organismo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2062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Metropolitan Police Dept.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6634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88CA0"/>
                </a:solidFill>
                <a:latin typeface="Calibri"/>
              </a:rPr>
              <a:t>Acceso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901183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CSV abierto – descarga directa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53583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88CA0"/>
                </a:solidFill>
                <a:latin typeface="Calibri"/>
              </a:rPr>
              <a:t>Registros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5961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1.656 filas · 25 columnas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88CA0"/>
                </a:solidFill>
                <a:latin typeface="Calibri"/>
              </a:rPr>
              <a:t>04 / EXPLORACIÓN INICIAL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530352"/>
            <a:ext cx="54864" cy="9144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Exploración inicial del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4DCE6"/>
                </a:solidFill>
                <a:latin typeface="Calibri"/>
              </a:rPr>
              <a:t>Inspección de calidad antes del análisis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27632"/>
            <a:ext cx="11430000" cy="22860"/>
          </a:xfrm>
          <a:prstGeom prst="rect">
            <a:avLst/>
          </a:prstGeom>
          <a:solidFill>
            <a:srgbClr val="2C3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828800"/>
            <a:ext cx="3520440" cy="4663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1828800"/>
            <a:ext cx="54864" cy="466344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90195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1121F"/>
                </a:solidFill>
                <a:latin typeface="Calibri"/>
              </a:rPr>
              <a:t>Problemas detectados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DCE6"/>
                </a:solidFill>
                <a:latin typeface="Calibri"/>
              </a:rPr>
              <a:t>!  Valores nulos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986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DCE6"/>
                </a:solidFill>
                <a:latin typeface="Calibri"/>
              </a:rPr>
              <a:t>!  Registros duplicados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1985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DCE6"/>
                </a:solidFill>
                <a:latin typeface="Calibri"/>
              </a:rPr>
              <a:t>!  Coordenadas faltantes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4106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DCE6"/>
                </a:solidFill>
                <a:latin typeface="Calibri"/>
              </a:rPr>
              <a:t>!  Variables poco relevantes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622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DCE6"/>
                </a:solidFill>
                <a:latin typeface="Calibri"/>
              </a:rPr>
              <a:t>!  Inconsistencias en formatos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1828800"/>
            <a:ext cx="3520440" cy="4663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0" y="1828800"/>
            <a:ext cx="54864" cy="4663440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15968" y="190195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6F8A"/>
                </a:solidFill>
                <a:latin typeface="Calibri"/>
              </a:rPr>
              <a:t>Proceso inicial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4528" y="2359152"/>
            <a:ext cx="292608" cy="292608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24528" y="235915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234086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DCE6"/>
                </a:solidFill>
                <a:latin typeface="Calibri"/>
              </a:rPr>
              <a:t>Carga del CSV original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24528" y="3072384"/>
            <a:ext cx="292608" cy="292608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24528" y="307238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054096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DCE6"/>
                </a:solidFill>
                <a:latin typeface="Calibri"/>
              </a:rPr>
              <a:t>Revisión de columnas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4528" y="3785616"/>
            <a:ext cx="292608" cy="292608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24528" y="378561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37673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DCE6"/>
                </a:solidFill>
                <a:latin typeface="Calibri"/>
              </a:rPr>
              <a:t>Identificación de errores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24528" y="4498848"/>
            <a:ext cx="292608" cy="292608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24528" y="44988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6864" y="448056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DCE6"/>
                </a:solidFill>
                <a:latin typeface="Calibri"/>
              </a:rPr>
              <a:t>Comprobación de calidad de datos</a:t>
            </a:r>
          </a:p>
        </p:txBody>
      </p:sp>
      <p:pic>
        <p:nvPicPr>
          <p:cNvPr id="31" name="Picture 30" descr="df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28800"/>
            <a:ext cx="4297680" cy="44348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18120" y="63093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88CA0"/>
                </a:solidFill>
                <a:latin typeface="Calibri"/>
              </a:rPr>
              <a:t>Vista previa del dataset original  (1656, 25)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6F8A"/>
                </a:solidFill>
                <a:latin typeface="Calibri"/>
              </a:rPr>
              <a:t>05 / LIMPIEZA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530352"/>
            <a:ext cx="54864" cy="9144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2A3A"/>
                </a:solidFill>
                <a:latin typeface="Cambria"/>
              </a:rPr>
              <a:t>Limpieza y transformación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88CA0"/>
                </a:solidFill>
                <a:latin typeface="Calibri"/>
              </a:rPr>
              <a:t>Python · Pandas · NumPy · Matplotlib · Seaborn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27632"/>
            <a:ext cx="11430000" cy="22860"/>
          </a:xfrm>
          <a:prstGeom prst="rect">
            <a:avLst/>
          </a:prstGeom>
          <a:solidFill>
            <a:srgbClr val="D4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847088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1847088"/>
            <a:ext cx="45720" cy="1170432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066543"/>
            <a:ext cx="384048" cy="384048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066543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193852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3A"/>
                </a:solidFill>
                <a:latin typeface="Calibri"/>
              </a:rPr>
              <a:t>Importación del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232257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CA0"/>
                </a:solidFill>
                <a:latin typeface="Calibri"/>
              </a:rPr>
              <a:t>Carga del CSV con pandas.read_csv()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847088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847088"/>
            <a:ext cx="45720" cy="1170432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73952" y="2066543"/>
            <a:ext cx="384048" cy="384048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2066543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93852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3A"/>
                </a:solidFill>
                <a:latin typeface="Calibri"/>
              </a:rPr>
              <a:t>Eliminación de valores nulos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232257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CA0"/>
                </a:solidFill>
                <a:latin typeface="Calibri"/>
              </a:rPr>
              <a:t>Gestión de columnas con alta tasa de nulos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3081528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4048" y="3081528"/>
            <a:ext cx="45720" cy="1170432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3300984"/>
            <a:ext cx="384048" cy="384048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3009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1729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3A"/>
                </a:solidFill>
                <a:latin typeface="Calibri"/>
              </a:rPr>
              <a:t>Tratamiento de duplicados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355701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CA0"/>
                </a:solidFill>
                <a:latin typeface="Calibri"/>
              </a:rPr>
              <a:t>Detección y eliminación de filas duplicadas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081528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3081528"/>
            <a:ext cx="45720" cy="1170432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73952" y="3300984"/>
            <a:ext cx="384048" cy="384048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73952" y="33009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31729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3A"/>
                </a:solidFill>
                <a:latin typeface="Calibri"/>
              </a:rPr>
              <a:t>Conversión de tipos de datos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355701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CA0"/>
                </a:solidFill>
                <a:latin typeface="Calibri"/>
              </a:rPr>
              <a:t>Fechas, coordenadas y variables categóricas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4315968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84048" y="4315968"/>
            <a:ext cx="45720" cy="1170432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" y="4535424"/>
            <a:ext cx="384048" cy="384048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45354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" y="440740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3A"/>
                </a:solidFill>
                <a:latin typeface="Calibri"/>
              </a:rPr>
              <a:t>Selección de variables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" y="479145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CA0"/>
                </a:solidFill>
                <a:latin typeface="Calibri"/>
              </a:rPr>
              <a:t>Retención de columnas analíticamente relevantes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315968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09360" y="4315968"/>
            <a:ext cx="45720" cy="1170432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73952" y="4535424"/>
            <a:ext cx="384048" cy="384048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73952" y="45354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86016" y="440740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3A"/>
                </a:solidFill>
                <a:latin typeface="Calibri"/>
              </a:rPr>
              <a:t>Validación de coordenadas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86016" y="479145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CA0"/>
                </a:solidFill>
                <a:latin typeface="Calibri"/>
              </a:rPr>
              <a:t>Verificación de rangos geográficos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0" y="5550408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291840" y="5550408"/>
            <a:ext cx="45720" cy="1170432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456432" y="5769864"/>
            <a:ext cx="384048" cy="384048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56432" y="576986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68496" y="564184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3A"/>
                </a:solidFill>
                <a:latin typeface="Calibri"/>
              </a:rPr>
              <a:t>Creación del dataset limpio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68496" y="602589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CA0"/>
                </a:solidFill>
                <a:latin typeface="Calibri"/>
              </a:rPr>
              <a:t>Export del CSV procesado final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" y="6492240"/>
            <a:ext cx="11448288" cy="292608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" y="65105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Resultado: dataset preparado para análisis y visualización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88CA0"/>
                </a:solidFill>
                <a:latin typeface="Calibri"/>
              </a:rPr>
              <a:t>06 / STACK TECNOLÓGICO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530352"/>
            <a:ext cx="54864" cy="9144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Herramientas y tecnologías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4DCE6"/>
                </a:solidFill>
                <a:latin typeface="Calibri"/>
              </a:rPr>
              <a:t>Ecosistema Python para ciencia de datos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27632"/>
            <a:ext cx="11430000" cy="22860"/>
          </a:xfrm>
          <a:prstGeom prst="rect">
            <a:avLst/>
          </a:prstGeom>
          <a:solidFill>
            <a:srgbClr val="2C3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2788920" cy="457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2788920" cy="54864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7512" y="2029968"/>
            <a:ext cx="24688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python_snake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1883664" cy="12096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749039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43984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8CA0"/>
                </a:solidFill>
                <a:latin typeface="Calibri"/>
              </a:rPr>
              <a:t>Lenguaje principal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874519"/>
            <a:ext cx="2788920" cy="457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29000" y="1874519"/>
            <a:ext cx="2788920" cy="54864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93592" y="2029968"/>
            <a:ext cx="24688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ALL_slide7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92" y="2029968"/>
            <a:ext cx="2468880" cy="1600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566160" y="3749039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Pandas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443984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8CA0"/>
                </a:solidFill>
                <a:latin typeface="Calibri"/>
              </a:rPr>
              <a:t>Manipulación de datos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1874519"/>
            <a:ext cx="2788920" cy="457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55080" y="1874519"/>
            <a:ext cx="2788920" cy="54864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19672" y="2029968"/>
            <a:ext cx="24688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ALL_slide7_img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029968"/>
            <a:ext cx="2468880" cy="1600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92240" y="3749039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NumPy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443984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8CA0"/>
                </a:solidFill>
                <a:latin typeface="Calibri"/>
              </a:rPr>
              <a:t>Cálculo numérico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1160" y="1874519"/>
            <a:ext cx="2788920" cy="4572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281160" y="1874519"/>
            <a:ext cx="2788920" cy="54864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45752" y="2029968"/>
            <a:ext cx="24688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ALL_slide7_img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5752" y="2029968"/>
            <a:ext cx="2468880" cy="1600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418320" y="3749039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Matplotlib
Seaborn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4443984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8CA0"/>
                </a:solidFill>
                <a:latin typeface="Calibri"/>
              </a:rPr>
              <a:t>Visualización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247120" cy="292608"/>
          </a:xfrm>
          <a:prstGeom prst="rect">
            <a:avLst/>
          </a:prstGeom>
          <a:solidFill>
            <a:srgbClr val="2C3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649224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DCE6"/>
                </a:solidFill>
                <a:latin typeface="Calibri"/>
              </a:rPr>
              <a:t>Folium  –  Visualización geográfica interactiva     |     Jupyter Notebook  –  Entorno de trabajo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6F8A"/>
                </a:solidFill>
                <a:latin typeface="Calibri"/>
              </a:rPr>
              <a:t>07 / METODOLOGÍA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530352"/>
            <a:ext cx="54864" cy="9144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2A3A"/>
                </a:solidFill>
                <a:latin typeface="Cambria"/>
              </a:rPr>
              <a:t>Metodología de análisis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88CA0"/>
                </a:solidFill>
                <a:latin typeface="Calibri"/>
              </a:rPr>
              <a:t>Proceso estructurado en cuatro fases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27632"/>
            <a:ext cx="11430000" cy="22860"/>
          </a:xfrm>
          <a:prstGeom prst="rect">
            <a:avLst/>
          </a:prstGeom>
          <a:solidFill>
            <a:srgbClr val="D4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163824" y="3200400"/>
            <a:ext cx="182880" cy="54864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1828800"/>
            <a:ext cx="278892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828800"/>
            <a:ext cx="2788920" cy="530352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1828800"/>
            <a:ext cx="54864" cy="470916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7" y="186537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1121F"/>
                </a:solidFill>
                <a:latin typeface="Calibri"/>
              </a:rPr>
              <a:t>Fase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212140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Preparación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770632"/>
            <a:ext cx="91440" cy="9144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26974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A3A"/>
                </a:solidFill>
                <a:latin typeface="Calibri"/>
              </a:rPr>
              <a:t>Importación del dataset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456432"/>
            <a:ext cx="91440" cy="9144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" y="33832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A3A"/>
                </a:solidFill>
                <a:latin typeface="Calibri"/>
              </a:rPr>
              <a:t>Exploración inicial de datos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200400"/>
            <a:ext cx="182880" cy="54864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346704" y="1828800"/>
            <a:ext cx="278892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46704" y="1828800"/>
            <a:ext cx="2788920" cy="530352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346704" y="1828800"/>
            <a:ext cx="54864" cy="470916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83864" y="186537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1121F"/>
                </a:solidFill>
                <a:latin typeface="Calibri"/>
              </a:rPr>
              <a:t>Fase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3864" y="212140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Limpieza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9584" y="2770632"/>
            <a:ext cx="91440" cy="9144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30752" y="26974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A3A"/>
                </a:solidFill>
                <a:latin typeface="Calibri"/>
              </a:rPr>
              <a:t>Corrección de inconsistencias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9584" y="3456432"/>
            <a:ext cx="91440" cy="9144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30752" y="33832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A3A"/>
                </a:solidFill>
                <a:latin typeface="Calibri"/>
              </a:rPr>
              <a:t>Tratamiento de valores faltantes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89136" y="3200400"/>
            <a:ext cx="182880" cy="54864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60" y="1828800"/>
            <a:ext cx="278892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1828800"/>
            <a:ext cx="2788920" cy="530352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60" y="1828800"/>
            <a:ext cx="54864" cy="470916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186537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1121F"/>
                </a:solidFill>
                <a:latin typeface="Calibri"/>
              </a:rPr>
              <a:t>Fase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12140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Análisis exploratorio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2770632"/>
            <a:ext cx="91440" cy="9144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93408" y="26974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A3A"/>
                </a:solidFill>
                <a:latin typeface="Calibri"/>
              </a:rPr>
              <a:t>Distribuciones y frecuencias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3456432"/>
            <a:ext cx="91440" cy="9144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93408" y="33832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A3A"/>
                </a:solidFill>
                <a:latin typeface="Calibri"/>
              </a:rPr>
              <a:t>Tendencias temporales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72016" y="1828800"/>
            <a:ext cx="278892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272016" y="1828800"/>
            <a:ext cx="2788920" cy="530352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272016" y="1828800"/>
            <a:ext cx="54864" cy="470916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09176" y="186537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1121F"/>
                </a:solidFill>
                <a:latin typeface="Calibri"/>
              </a:rPr>
              <a:t>Fase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9176" y="212140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Visualización geográfica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54896" y="2770632"/>
            <a:ext cx="91440" cy="9144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56064" y="26974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A3A"/>
                </a:solidFill>
                <a:latin typeface="Calibri"/>
              </a:rPr>
              <a:t>Representación espacial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54896" y="3456432"/>
            <a:ext cx="91440" cy="9144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56064" y="33832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A3A"/>
                </a:solidFill>
                <a:latin typeface="Calibri"/>
              </a:rPr>
              <a:t>Mapa interactivo Folium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132320" y="-457200"/>
            <a:ext cx="6217920" cy="6217920"/>
          </a:xfrm>
          <a:prstGeom prst="ellipse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0" y="2926080"/>
            <a:ext cx="4572000" cy="4572000"/>
          </a:xfrm>
          <a:prstGeom prst="ellipse">
            <a:avLst/>
          </a:prstGeom>
          <a:solidFill>
            <a:srgbClr val="0A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3474720" cy="384048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DATO DE IMPACTO · ANÁLISIS DEL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mbria"/>
              </a:rPr>
              <a:t>1 delito de odio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D4DCE6"/>
                </a:solidFill>
                <a:latin typeface="Cambria"/>
              </a:rPr>
              <a:t>cada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2487168"/>
            <a:ext cx="4114800" cy="1481328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37360" y="2578608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mbria"/>
              </a:rPr>
              <a:t>68 horas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4164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D4DCE6"/>
                </a:solidFill>
                <a:latin typeface="Cambria"/>
              </a:rPr>
              <a:t>de media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754880"/>
            <a:ext cx="5943600" cy="27432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4892040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4DCE6"/>
                </a:solidFill>
                <a:latin typeface="Calibri"/>
              </a:rPr>
              <a:t>en la ciudad de Washington D.C. (2012–2024)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57784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4A6F8A"/>
                </a:solidFill>
                <a:latin typeface="Calibri"/>
              </a:rPr>
              <a:t>¿Cómo se calculó?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788CA0"/>
                </a:solidFill>
                <a:latin typeface="Calibri"/>
              </a:rPr>
              <a:t>Tiempo total del período / número de incidentes registrados. El dataset recoge 1.656 incidentes a lo largo de 13 años (113.880 horas aproximadas).</a:t>
            </a:r>
          </a:p>
        </p:txBody>
      </p:sp>
      <p:pic>
        <p:nvPicPr>
          <p:cNvPr id="15" name="Picture 14" descr="chart_time_betw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53949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88CA0"/>
                </a:solidFill>
                <a:latin typeface="Calibri"/>
              </a:rPr>
              <a:t>08 / ANÁLISIS TEMPORAL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530352"/>
            <a:ext cx="54864" cy="9144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Evolución temporal de los incidentes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4DCE6"/>
                </a:solidFill>
                <a:latin typeface="Calibri"/>
              </a:rPr>
              <a:t>Agrupación por períodos presidenciales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27632"/>
            <a:ext cx="11430000" cy="22860"/>
          </a:xfrm>
          <a:prstGeom prst="rect">
            <a:avLst/>
          </a:prstGeom>
          <a:solidFill>
            <a:srgbClr val="2C3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828800"/>
            <a:ext cx="4206240" cy="3037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384048" y="1828800"/>
            <a:ext cx="54864" cy="470916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938528"/>
            <a:ext cx="3840480" cy="321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dirty="0" err="1">
                <a:solidFill>
                  <a:srgbClr val="C1121F"/>
                </a:solidFill>
                <a:latin typeface="Calibri"/>
              </a:rPr>
              <a:t>Metodología</a:t>
            </a:r>
            <a:r>
              <a:rPr sz="1200" b="1" i="0" dirty="0">
                <a:solidFill>
                  <a:srgbClr val="C1121F"/>
                </a:solidFill>
                <a:latin typeface="Calibri"/>
              </a:rPr>
              <a:t xml:space="preserve"> de </a:t>
            </a:r>
            <a:r>
              <a:rPr sz="1200" b="1" i="0" dirty="0" err="1">
                <a:solidFill>
                  <a:srgbClr val="C1121F"/>
                </a:solidFill>
                <a:latin typeface="Calibri"/>
              </a:rPr>
              <a:t>agrupación</a:t>
            </a:r>
            <a:endParaRPr sz="1200" b="1" i="0" dirty="0">
              <a:solidFill>
                <a:srgbClr val="C1121F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r>
              <a:rPr sz="1250" b="0" i="0" dirty="0">
                <a:solidFill>
                  <a:srgbClr val="D4DCE6"/>
                </a:solidFill>
                <a:latin typeface="Calibri"/>
              </a:rPr>
              <a:t xml:space="preserve">Los </a:t>
            </a:r>
            <a:r>
              <a:rPr sz="1250" b="0" i="0" dirty="0" err="1">
                <a:solidFill>
                  <a:srgbClr val="D4DCE6"/>
                </a:solidFill>
                <a:latin typeface="Calibri"/>
              </a:rPr>
              <a:t>incidentes</a:t>
            </a:r>
            <a:r>
              <a:rPr sz="1250" b="0" i="0" dirty="0">
                <a:solidFill>
                  <a:srgbClr val="D4DCE6"/>
                </a:solidFill>
                <a:latin typeface="Calibri"/>
              </a:rPr>
              <a:t xml:space="preserve"> se </a:t>
            </a:r>
            <a:r>
              <a:rPr sz="1250" b="0" i="0" dirty="0" err="1">
                <a:solidFill>
                  <a:srgbClr val="D4DCE6"/>
                </a:solidFill>
                <a:latin typeface="Calibri"/>
              </a:rPr>
              <a:t>agruparon</a:t>
            </a:r>
            <a:r>
              <a:rPr sz="1250" b="0" i="0" dirty="0">
                <a:solidFill>
                  <a:srgbClr val="D4DCE6"/>
                </a:solidFill>
                <a:latin typeface="Calibri"/>
              </a:rPr>
              <a:t xml:space="preserve"> </a:t>
            </a:r>
            <a:r>
              <a:rPr sz="1250" b="0" i="0" dirty="0" err="1">
                <a:solidFill>
                  <a:srgbClr val="D4DCE6"/>
                </a:solidFill>
                <a:latin typeface="Calibri"/>
              </a:rPr>
              <a:t>según</a:t>
            </a:r>
            <a:r>
              <a:rPr sz="1250" b="0" i="0" dirty="0">
                <a:solidFill>
                  <a:srgbClr val="D4DCE6"/>
                </a:solidFill>
                <a:latin typeface="Calibri"/>
              </a:rPr>
              <a:t xml:space="preserve"> </a:t>
            </a:r>
            <a:r>
              <a:rPr sz="1250" b="0" i="0" dirty="0" err="1">
                <a:solidFill>
                  <a:srgbClr val="D4DCE6"/>
                </a:solidFill>
                <a:latin typeface="Calibri"/>
              </a:rPr>
              <a:t>los</a:t>
            </a:r>
            <a:r>
              <a:rPr sz="1250" b="0" i="0" dirty="0">
                <a:solidFill>
                  <a:srgbClr val="D4DCE6"/>
                </a:solidFill>
                <a:latin typeface="Calibri"/>
              </a:rPr>
              <a:t xml:space="preserve"> </a:t>
            </a:r>
            <a:r>
              <a:rPr sz="1250" b="0" i="0" dirty="0" err="1">
                <a:solidFill>
                  <a:srgbClr val="D4DCE6"/>
                </a:solidFill>
                <a:latin typeface="Calibri"/>
              </a:rPr>
              <a:t>distintos</a:t>
            </a:r>
            <a:r>
              <a:rPr sz="1250" b="0" i="0" dirty="0">
                <a:solidFill>
                  <a:srgbClr val="D4DCE6"/>
                </a:solidFill>
                <a:latin typeface="Calibri"/>
              </a:rPr>
              <a:t xml:space="preserve"> </a:t>
            </a:r>
            <a:r>
              <a:rPr sz="1250" b="0" i="0" dirty="0" err="1">
                <a:solidFill>
                  <a:srgbClr val="D4DCE6"/>
                </a:solidFill>
                <a:latin typeface="Calibri"/>
              </a:rPr>
              <a:t>períodos</a:t>
            </a:r>
            <a:r>
              <a:rPr sz="1250" b="0" i="0" dirty="0">
                <a:solidFill>
                  <a:srgbClr val="D4DCE6"/>
                </a:solidFill>
                <a:latin typeface="Calibri"/>
              </a:rPr>
              <a:t xml:space="preserve"> </a:t>
            </a:r>
            <a:r>
              <a:rPr sz="1250" b="0" i="0" dirty="0" err="1">
                <a:solidFill>
                  <a:srgbClr val="D4DCE6"/>
                </a:solidFill>
                <a:latin typeface="Calibri"/>
              </a:rPr>
              <a:t>presidenciales</a:t>
            </a:r>
            <a:r>
              <a:rPr sz="1250" b="0" i="0" dirty="0">
                <a:solidFill>
                  <a:srgbClr val="D4DCE6"/>
                </a:solidFill>
                <a:latin typeface="Calibri"/>
              </a:rPr>
              <a:t xml:space="preserve"> para </a:t>
            </a:r>
            <a:r>
              <a:rPr sz="1250" b="0" i="0" dirty="0" err="1">
                <a:solidFill>
                  <a:srgbClr val="D4DCE6"/>
                </a:solidFill>
                <a:latin typeface="Calibri"/>
              </a:rPr>
              <a:t>facilitar</a:t>
            </a:r>
            <a:r>
              <a:rPr sz="1250" b="0" i="0" dirty="0">
                <a:solidFill>
                  <a:srgbClr val="D4DCE6"/>
                </a:solidFill>
                <a:latin typeface="Calibri"/>
              </a:rPr>
              <a:t xml:space="preserve"> la </a:t>
            </a:r>
            <a:r>
              <a:rPr sz="1250" b="0" i="0" dirty="0" err="1">
                <a:solidFill>
                  <a:srgbClr val="D4DCE6"/>
                </a:solidFill>
                <a:latin typeface="Calibri"/>
              </a:rPr>
              <a:t>comparación</a:t>
            </a:r>
            <a:r>
              <a:rPr sz="1250" b="0" i="0" dirty="0">
                <a:solidFill>
                  <a:srgbClr val="D4DCE6"/>
                </a:solidFill>
                <a:latin typeface="Calibri"/>
              </a:rPr>
              <a:t>.</a:t>
            </a:r>
          </a:p>
          <a:p>
            <a:pPr algn="l">
              <a:spcBef>
                <a:spcPts val="600"/>
              </a:spcBef>
            </a:pPr>
            <a:r>
              <a:rPr sz="500" b="0" i="0" dirty="0">
                <a:solidFill>
                  <a:srgbClr val="1A2A3A"/>
                </a:solidFill>
                <a:latin typeface="Calibri"/>
              </a:rPr>
              <a:t xml:space="preserve"> </a:t>
            </a:r>
          </a:p>
          <a:p>
            <a:pPr algn="l">
              <a:spcBef>
                <a:spcPts val="800"/>
              </a:spcBef>
            </a:pPr>
            <a:r>
              <a:rPr sz="1400" b="1" i="0" dirty="0">
                <a:solidFill>
                  <a:srgbClr val="FFFFFF"/>
                </a:solidFill>
                <a:latin typeface="Calibri"/>
              </a:rPr>
              <a:t>Obama   2012–2016</a:t>
            </a:r>
          </a:p>
          <a:p>
            <a:pPr algn="l">
              <a:spcBef>
                <a:spcPts val="500"/>
              </a:spcBef>
            </a:pPr>
            <a:r>
              <a:rPr sz="1400" b="1" i="0" dirty="0">
                <a:solidFill>
                  <a:srgbClr val="FFFFFF"/>
                </a:solidFill>
                <a:latin typeface="Calibri"/>
              </a:rPr>
              <a:t>Trump   2017–2020</a:t>
            </a:r>
          </a:p>
          <a:p>
            <a:pPr algn="l">
              <a:spcBef>
                <a:spcPts val="500"/>
              </a:spcBef>
            </a:pPr>
            <a:r>
              <a:rPr sz="1400" b="1" i="0" dirty="0">
                <a:solidFill>
                  <a:srgbClr val="FFFFFF"/>
                </a:solidFill>
                <a:latin typeface="Calibri"/>
              </a:rPr>
              <a:t>Biden   2021–2024</a:t>
            </a:r>
            <a:endParaRPr lang="es-ES" sz="1400" b="1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lang="es-ES" sz="1400" b="1" dirty="0">
                <a:solidFill>
                  <a:srgbClr val="FFFFFF"/>
                </a:solidFill>
                <a:latin typeface="Calibri"/>
              </a:rPr>
              <a:t xml:space="preserve">Pico </a:t>
            </a:r>
            <a:r>
              <a:rPr lang="es-ES" sz="1400" b="1" dirty="0" err="1">
                <a:solidFill>
                  <a:srgbClr val="FFFFFF"/>
                </a:solidFill>
                <a:latin typeface="Calibri"/>
              </a:rPr>
              <a:t>max</a:t>
            </a:r>
            <a:r>
              <a:rPr lang="es-ES" sz="1400" b="1" dirty="0">
                <a:solidFill>
                  <a:srgbClr val="FFFFFF"/>
                </a:solidFill>
                <a:latin typeface="Calibri"/>
              </a:rPr>
              <a:t>. 2018 con 205 casos</a:t>
            </a:r>
          </a:p>
          <a:p>
            <a:pPr algn="l">
              <a:spcBef>
                <a:spcPts val="500"/>
              </a:spcBef>
            </a:pPr>
            <a:r>
              <a:rPr lang="es-ES" sz="1400" b="1" i="0" dirty="0">
                <a:solidFill>
                  <a:srgbClr val="FFFFFF"/>
                </a:solidFill>
                <a:latin typeface="Calibri"/>
              </a:rPr>
              <a:t>Pico min. 2015 con 64 casos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r>
              <a:rPr sz="500" b="0" i="0" dirty="0">
                <a:solidFill>
                  <a:srgbClr val="1A2A3A"/>
                </a:solidFill>
                <a:latin typeface="Calibri"/>
              </a:rPr>
              <a:t xml:space="preserve"> </a:t>
            </a:r>
          </a:p>
          <a:p>
            <a:pPr algn="l">
              <a:spcBef>
                <a:spcPts val="800"/>
              </a:spcBef>
            </a:pPr>
            <a:r>
              <a:rPr sz="1200" b="1" i="0" dirty="0" err="1">
                <a:solidFill>
                  <a:srgbClr val="C1121F"/>
                </a:solidFill>
                <a:latin typeface="Calibri"/>
              </a:rPr>
              <a:t>Objetivo</a:t>
            </a:r>
            <a:endParaRPr sz="1200" b="1" i="0" dirty="0">
              <a:solidFill>
                <a:srgbClr val="C1121F"/>
              </a:solidFill>
              <a:latin typeface="Calibri"/>
            </a:endParaRPr>
          </a:p>
          <a:p>
            <a:pPr>
              <a:spcBef>
                <a:spcPts val="500"/>
              </a:spcBef>
            </a:pPr>
            <a:r>
              <a:rPr sz="1250" b="0" i="0" dirty="0" err="1">
                <a:solidFill>
                  <a:srgbClr val="D4DCE6"/>
                </a:solidFill>
                <a:latin typeface="Calibri"/>
              </a:rPr>
              <a:t>Comparar</a:t>
            </a:r>
            <a:r>
              <a:rPr sz="1250" b="0" i="0" dirty="0">
                <a:solidFill>
                  <a:srgbClr val="D4DCE6"/>
                </a:solidFill>
                <a:latin typeface="Calibri"/>
              </a:rPr>
              <a:t xml:space="preserve"> la </a:t>
            </a:r>
            <a:r>
              <a:rPr sz="1250" b="0" i="0" dirty="0" err="1">
                <a:solidFill>
                  <a:srgbClr val="D4DCE6"/>
                </a:solidFill>
                <a:latin typeface="Calibri"/>
              </a:rPr>
              <a:t>evolución</a:t>
            </a:r>
            <a:r>
              <a:rPr sz="1250" b="0" i="0" dirty="0">
                <a:solidFill>
                  <a:srgbClr val="D4DCE6"/>
                </a:solidFill>
                <a:latin typeface="Calibri"/>
              </a:rPr>
              <a:t xml:space="preserve"> de </a:t>
            </a:r>
            <a:r>
              <a:rPr sz="1250" b="0" i="0" dirty="0" err="1">
                <a:solidFill>
                  <a:srgbClr val="D4DCE6"/>
                </a:solidFill>
                <a:latin typeface="Calibri"/>
              </a:rPr>
              <a:t>incidentes</a:t>
            </a:r>
            <a:r>
              <a:rPr sz="1250" b="0" i="0" dirty="0">
                <a:solidFill>
                  <a:srgbClr val="D4DCE6"/>
                </a:solidFill>
                <a:latin typeface="Calibri"/>
              </a:rPr>
              <a:t xml:space="preserve"> y </a:t>
            </a:r>
            <a:r>
              <a:rPr sz="1250" b="0" i="0" dirty="0" err="1">
                <a:solidFill>
                  <a:srgbClr val="D4DCE6"/>
                </a:solidFill>
                <a:latin typeface="Calibri"/>
              </a:rPr>
              <a:t>detectar</a:t>
            </a:r>
            <a:r>
              <a:rPr sz="1250" b="0" i="0" dirty="0">
                <a:solidFill>
                  <a:srgbClr val="D4DCE6"/>
                </a:solidFill>
                <a:latin typeface="Calibri"/>
              </a:rPr>
              <a:t xml:space="preserve"> </a:t>
            </a:r>
            <a:r>
              <a:rPr sz="1250" b="0" i="0" dirty="0" err="1">
                <a:solidFill>
                  <a:srgbClr val="D4DCE6"/>
                </a:solidFill>
                <a:latin typeface="Calibri"/>
              </a:rPr>
              <a:t>posibles</a:t>
            </a:r>
            <a:r>
              <a:rPr sz="1250" b="0" i="0" dirty="0">
                <a:solidFill>
                  <a:srgbClr val="D4DCE6"/>
                </a:solidFill>
                <a:latin typeface="Calibri"/>
              </a:rPr>
              <a:t xml:space="preserve"> </a:t>
            </a:r>
            <a:r>
              <a:rPr sz="1250" b="0" i="0" dirty="0" err="1">
                <a:solidFill>
                  <a:srgbClr val="D4DCE6"/>
                </a:solidFill>
                <a:latin typeface="Calibri"/>
              </a:rPr>
              <a:t>cambios</a:t>
            </a:r>
            <a:r>
              <a:rPr sz="1250" b="0" i="0" dirty="0">
                <a:solidFill>
                  <a:srgbClr val="D4DCE6"/>
                </a:solidFill>
                <a:latin typeface="Calibri"/>
              </a:rPr>
              <a:t xml:space="preserve"> </a:t>
            </a:r>
            <a:r>
              <a:rPr sz="1250" b="0" i="0" dirty="0" err="1">
                <a:solidFill>
                  <a:srgbClr val="D4DCE6"/>
                </a:solidFill>
                <a:latin typeface="Calibri"/>
              </a:rPr>
              <a:t>temporales</a:t>
            </a:r>
            <a:r>
              <a:rPr sz="1250" b="0" i="0" dirty="0">
                <a:solidFill>
                  <a:srgbClr val="D4DCE6"/>
                </a:solidFill>
                <a:latin typeface="Calibri"/>
              </a:rPr>
              <a:t>.</a:t>
            </a:r>
          </a:p>
        </p:txBody>
      </p:sp>
      <p:pic>
        <p:nvPicPr>
          <p:cNvPr id="11" name="Picture 10" descr="chart_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755648"/>
            <a:ext cx="726948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6F8A"/>
                </a:solidFill>
                <a:latin typeface="Calibri"/>
              </a:rPr>
              <a:t>09 / DISTRIBUCIÓN TEMPORAL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530352"/>
            <a:ext cx="54864" cy="9144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2A3A"/>
                </a:solidFill>
                <a:latin typeface="Cambria"/>
              </a:rPr>
              <a:t>Distribución temporal de delitos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88CA0"/>
                </a:solidFill>
                <a:latin typeface="Calibri"/>
              </a:rPr>
              <a:t>Patrones por mes, hora del día y día de la semana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27632"/>
            <a:ext cx="11430000" cy="22860"/>
          </a:xfrm>
          <a:prstGeom prst="rect">
            <a:avLst/>
          </a:prstGeom>
          <a:solidFill>
            <a:srgbClr val="D4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art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783080"/>
            <a:ext cx="5577840" cy="3017520"/>
          </a:xfrm>
          <a:prstGeom prst="rect">
            <a:avLst/>
          </a:prstGeom>
        </p:spPr>
      </p:pic>
      <p:pic>
        <p:nvPicPr>
          <p:cNvPr id="9" name="Picture 8" descr="chart_h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783080"/>
            <a:ext cx="5650992" cy="3017520"/>
          </a:xfrm>
          <a:prstGeom prst="rect">
            <a:avLst/>
          </a:prstGeom>
        </p:spPr>
      </p:pic>
      <p:pic>
        <p:nvPicPr>
          <p:cNvPr id="10" name="Picture 9" descr="chart_weekd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4919472"/>
            <a:ext cx="7909560" cy="1783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048" y="6748272"/>
            <a:ext cx="11475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788CA0"/>
                </a:solidFill>
                <a:latin typeface="Calibri"/>
              </a:rPr>
              <a:t>Arriba izq: delitos por mes  |  Arriba dcha: delitos por hora  |  Abajo: delitos por día de la semana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6F8A"/>
                </a:solidFill>
                <a:latin typeface="Calibri"/>
              </a:rPr>
              <a:t>10 / DISTRIBUCIÓN DE DELITOS POR BIAS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530352"/>
            <a:ext cx="54864" cy="9144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2A3A"/>
                </a:solidFill>
                <a:latin typeface="Cambria"/>
              </a:rPr>
              <a:t>Evolución del top 5 de bias por presidencia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88CA0"/>
                </a:solidFill>
                <a:latin typeface="Calibri"/>
              </a:rPr>
              <a:t>Tendencia anual de los 5 principales tipos de hate bias · contexto presidencial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27632"/>
            <a:ext cx="11430000" cy="22860"/>
          </a:xfrm>
          <a:prstGeom prst="rect">
            <a:avLst/>
          </a:prstGeom>
          <a:solidFill>
            <a:srgbClr val="D4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art_evolution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5648"/>
            <a:ext cx="1088136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6F8A"/>
                </a:solidFill>
                <a:latin typeface="Calibri"/>
              </a:rPr>
              <a:t>% / EVOLUCIÓN PORCENTUAL POR PRESIDENCIA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530352"/>
            <a:ext cx="54864" cy="9144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2A3A"/>
                </a:solidFill>
                <a:latin typeface="Cambria"/>
              </a:rPr>
              <a:t>% Evolución del top 5 de bias por presidencia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788CA0"/>
                </a:solidFill>
                <a:latin typeface="Calibri"/>
              </a:rPr>
              <a:t xml:space="preserve">% </a:t>
            </a:r>
            <a:r>
              <a:rPr sz="1500" b="0" i="0" dirty="0" err="1">
                <a:solidFill>
                  <a:srgbClr val="788CA0"/>
                </a:solidFill>
                <a:latin typeface="Calibri"/>
              </a:rPr>
              <a:t>anual</a:t>
            </a:r>
            <a:r>
              <a:rPr sz="1500" b="0" i="0" dirty="0">
                <a:solidFill>
                  <a:srgbClr val="788CA0"/>
                </a:solidFill>
                <a:latin typeface="Calibri"/>
              </a:rPr>
              <a:t xml:space="preserve"> </a:t>
            </a:r>
            <a:r>
              <a:rPr sz="1500" b="0" i="0" dirty="0" err="1">
                <a:solidFill>
                  <a:srgbClr val="788CA0"/>
                </a:solidFill>
                <a:latin typeface="Calibri"/>
              </a:rPr>
              <a:t>sobre</a:t>
            </a:r>
            <a:r>
              <a:rPr sz="1500" b="0" i="0" dirty="0">
                <a:solidFill>
                  <a:srgbClr val="788CA0"/>
                </a:solidFill>
                <a:latin typeface="Calibri"/>
              </a:rPr>
              <a:t xml:space="preserve"> </a:t>
            </a:r>
            <a:r>
              <a:rPr sz="1500" b="0" i="0" dirty="0" err="1">
                <a:solidFill>
                  <a:srgbClr val="788CA0"/>
                </a:solidFill>
                <a:latin typeface="Calibri"/>
              </a:rPr>
              <a:t>el</a:t>
            </a:r>
            <a:r>
              <a:rPr sz="1500" b="0" i="0" dirty="0">
                <a:solidFill>
                  <a:srgbClr val="788CA0"/>
                </a:solidFill>
                <a:latin typeface="Calibri"/>
              </a:rPr>
              <a:t xml:space="preserve"> total de </a:t>
            </a:r>
            <a:r>
              <a:rPr sz="1500" b="0" i="0" dirty="0" err="1">
                <a:solidFill>
                  <a:srgbClr val="788CA0"/>
                </a:solidFill>
                <a:latin typeface="Calibri"/>
              </a:rPr>
              <a:t>incidentes</a:t>
            </a:r>
            <a:r>
              <a:rPr sz="1500" b="0" i="0" dirty="0">
                <a:solidFill>
                  <a:srgbClr val="788CA0"/>
                </a:solidFill>
                <a:latin typeface="Calibri"/>
              </a:rPr>
              <a:t xml:space="preserve"> del </a:t>
            </a:r>
            <a:r>
              <a:rPr sz="1500" b="0" i="0" dirty="0" err="1">
                <a:solidFill>
                  <a:srgbClr val="788CA0"/>
                </a:solidFill>
                <a:latin typeface="Calibri"/>
              </a:rPr>
              <a:t>año</a:t>
            </a:r>
            <a:r>
              <a:rPr sz="1500" b="0" i="0" dirty="0">
                <a:solidFill>
                  <a:srgbClr val="788CA0"/>
                </a:solidFill>
                <a:latin typeface="Calibri"/>
              </a:rPr>
              <a:t xml:space="preserve"> (n=6</a:t>
            </a:r>
            <a:r>
              <a:rPr lang="es-ES" sz="1500" b="0" i="0" dirty="0">
                <a:solidFill>
                  <a:srgbClr val="788CA0"/>
                </a:solidFill>
                <a:latin typeface="Calibri"/>
              </a:rPr>
              <a:t>4</a:t>
            </a:r>
            <a:r>
              <a:rPr sz="1500" b="0" i="0" dirty="0">
                <a:solidFill>
                  <a:srgbClr val="788CA0"/>
                </a:solidFill>
                <a:latin typeface="Calibri"/>
              </a:rPr>
              <a:t>–20</a:t>
            </a:r>
            <a:r>
              <a:rPr lang="es-ES" sz="1500" b="0" i="0" dirty="0">
                <a:solidFill>
                  <a:srgbClr val="788CA0"/>
                </a:solidFill>
                <a:latin typeface="Calibri"/>
              </a:rPr>
              <a:t>5</a:t>
            </a:r>
            <a:r>
              <a:rPr sz="1500" b="0" i="0" dirty="0">
                <a:solidFill>
                  <a:srgbClr val="788CA0"/>
                </a:solidFill>
                <a:latin typeface="Calibri"/>
              </a:rPr>
              <a:t xml:space="preserve">) · top 5 </a:t>
            </a:r>
            <a:r>
              <a:rPr sz="1500" b="0" i="0" dirty="0" err="1">
                <a:solidFill>
                  <a:srgbClr val="788CA0"/>
                </a:solidFill>
                <a:latin typeface="Calibri"/>
              </a:rPr>
              <a:t>tipos</a:t>
            </a:r>
            <a:r>
              <a:rPr sz="1500" b="0" i="0" dirty="0">
                <a:solidFill>
                  <a:srgbClr val="788CA0"/>
                </a:solidFill>
                <a:latin typeface="Calibri"/>
              </a:rPr>
              <a:t xml:space="preserve"> · Obama / Trump / Biden · </a:t>
            </a:r>
            <a:r>
              <a:rPr sz="1500" b="0" i="0" dirty="0" err="1">
                <a:solidFill>
                  <a:srgbClr val="788CA0"/>
                </a:solidFill>
                <a:latin typeface="Calibri"/>
              </a:rPr>
              <a:t>el</a:t>
            </a:r>
            <a:r>
              <a:rPr sz="1500" b="0" i="0" dirty="0">
                <a:solidFill>
                  <a:srgbClr val="788CA0"/>
                </a:solidFill>
                <a:latin typeface="Calibri"/>
              </a:rPr>
              <a:t xml:space="preserve"> top 5 </a:t>
            </a:r>
            <a:r>
              <a:rPr sz="1500" b="0" i="0" dirty="0" err="1">
                <a:solidFill>
                  <a:srgbClr val="788CA0"/>
                </a:solidFill>
                <a:latin typeface="Calibri"/>
              </a:rPr>
              <a:t>cubre</a:t>
            </a:r>
            <a:r>
              <a:rPr sz="1500" b="0" i="0" dirty="0">
                <a:solidFill>
                  <a:srgbClr val="788CA0"/>
                </a:solidFill>
                <a:latin typeface="Calibri"/>
              </a:rPr>
              <a:t xml:space="preserve"> </a:t>
            </a:r>
            <a:r>
              <a:rPr sz="1500" b="0" i="0" dirty="0" err="1">
                <a:solidFill>
                  <a:srgbClr val="788CA0"/>
                </a:solidFill>
                <a:latin typeface="Calibri"/>
              </a:rPr>
              <a:t>el</a:t>
            </a:r>
            <a:r>
              <a:rPr sz="1500" b="0" i="0" dirty="0">
                <a:solidFill>
                  <a:srgbClr val="788CA0"/>
                </a:solidFill>
                <a:latin typeface="Calibri"/>
              </a:rPr>
              <a:t xml:space="preserve"> 92–100% del total </a:t>
            </a:r>
            <a:r>
              <a:rPr sz="1500" b="0" i="0" dirty="0" err="1">
                <a:solidFill>
                  <a:srgbClr val="788CA0"/>
                </a:solidFill>
                <a:latin typeface="Calibri"/>
              </a:rPr>
              <a:t>cada</a:t>
            </a:r>
            <a:r>
              <a:rPr sz="1500" b="0" i="0" dirty="0">
                <a:solidFill>
                  <a:srgbClr val="788CA0"/>
                </a:solidFill>
                <a:latin typeface="Calibri"/>
              </a:rPr>
              <a:t xml:space="preserve"> </a:t>
            </a:r>
            <a:r>
              <a:rPr sz="1500" b="0" i="0" dirty="0" err="1">
                <a:solidFill>
                  <a:srgbClr val="788CA0"/>
                </a:solidFill>
                <a:latin typeface="Calibri"/>
              </a:rPr>
              <a:t>año</a:t>
            </a:r>
            <a:endParaRPr sz="1500" b="0" i="0" dirty="0">
              <a:solidFill>
                <a:srgbClr val="788CA0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4048" y="1627632"/>
            <a:ext cx="11430000" cy="22860"/>
          </a:xfrm>
          <a:prstGeom prst="rect">
            <a:avLst/>
          </a:prstGeom>
          <a:solidFill>
            <a:srgbClr val="D4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art_evolution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5648"/>
            <a:ext cx="10881360" cy="4800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6580000"/>
            <a:ext cx="1088136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999999"/>
                </a:solidFill>
                <a:latin typeface="Calibri"/>
              </a:rPr>
              <a:t>Nota metodológica: los porcentajes se calculan sobre el total anual de incidentes (todos los tipos, no solo el top 5). El top 5 representa el 92–100% del total según el año. n pequeñas (66–107 en período Obama) amplifican la variabilidad porcentual.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88CA0"/>
                </a:solidFill>
                <a:latin typeface="Calibri"/>
              </a:rPr>
              <a:t>11 / TOP 10 TIPOS DE BIAS POR PRESIDENCIA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530352"/>
            <a:ext cx="54864" cy="9144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Top 10 Hate Bias Types by U.S. Presidency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4DCE6"/>
                </a:solidFill>
                <a:latin typeface="Calibri"/>
              </a:rPr>
              <a:t>Comparativa de los 10 principales tipos de bias según período presidencial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27632"/>
            <a:ext cx="11430000" cy="22860"/>
          </a:xfrm>
          <a:prstGeom prst="rect">
            <a:avLst/>
          </a:prstGeom>
          <a:solidFill>
            <a:srgbClr val="2C3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art_top10_presid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5648"/>
            <a:ext cx="1088136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6F8A"/>
                </a:solidFill>
                <a:latin typeface="Calibri"/>
              </a:rPr>
              <a:t>12 / HEATMAP MENSUAL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530352"/>
            <a:ext cx="54864" cy="9144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2A3A"/>
                </a:solidFill>
                <a:latin typeface="Cambria"/>
              </a:rPr>
              <a:t>Heatmap: top 5 crimes por mes y presidencia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88CA0"/>
                </a:solidFill>
                <a:latin typeface="Calibri"/>
              </a:rPr>
              <a:t>Intensidad de incidentes mes a mes según período presidencial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27632"/>
            <a:ext cx="11430000" cy="22860"/>
          </a:xfrm>
          <a:prstGeom prst="rect">
            <a:avLst/>
          </a:prstGeom>
          <a:solidFill>
            <a:srgbClr val="D4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art_heatmap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755648"/>
            <a:ext cx="1144828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88CA0"/>
                </a:solidFill>
                <a:latin typeface="Calibri"/>
              </a:rPr>
              <a:t>14 / SÍNTESIS DEL ANÁLISIS EXPLORATORIO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530352"/>
            <a:ext cx="54864" cy="9144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Mapa de correlaciones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4DCE6"/>
                </a:solidFill>
                <a:latin typeface="Calibri"/>
              </a:rPr>
              <a:t>Relación entre variables numéricas y tipos de hate bias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27632"/>
            <a:ext cx="11430000" cy="22860"/>
          </a:xfrm>
          <a:prstGeom prst="rect">
            <a:avLst/>
          </a:prstGeom>
          <a:solidFill>
            <a:srgbClr val="2C3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828800"/>
            <a:ext cx="4160520" cy="47091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1828800"/>
            <a:ext cx="54864" cy="470916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37947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C1121F"/>
                </a:solidFill>
                <a:latin typeface="Calibri"/>
              </a:rPr>
              <a:t>Variables analizadas</a:t>
            </a:r>
          </a:p>
          <a:p>
            <a:pPr algn="l">
              <a:spcBef>
                <a:spcPts val="600"/>
              </a:spcBef>
            </a:pPr>
            <a:r>
              <a:rPr sz="400" b="0" i="0">
                <a:solidFill>
                  <a:srgbClr val="1A2A3A"/>
                </a:solidFill>
                <a:latin typeface="Calibri"/>
              </a:rPr>
              <a:t xml:space="preserve"> </a:t>
            </a:r>
          </a:p>
          <a:p>
            <a:pPr algn="l">
              <a:spcBef>
                <a:spcPts val="3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REPORT_YEAR · MONTH · HOUR</a:t>
            </a:r>
          </a:p>
          <a:p>
            <a:pPr algn="l">
              <a:spcBef>
                <a:spcPts val="3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MAR_LATITUDE · MAR_LONGITUDE</a:t>
            </a:r>
          </a:p>
          <a:p>
            <a:pPr algn="l">
              <a:spcBef>
                <a:spcPts val="3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Sexual Orientation · Ethnicity</a:t>
            </a:r>
          </a:p>
          <a:p>
            <a:pPr algn="l">
              <a:spcBef>
                <a:spcPts val="3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Race · Gender Identity · Religion</a:t>
            </a:r>
          </a:p>
          <a:p>
            <a:pPr algn="l">
              <a:spcBef>
                <a:spcPts val="600"/>
              </a:spcBef>
            </a:pPr>
            <a:r>
              <a:rPr sz="500" b="0" i="0">
                <a:solidFill>
                  <a:srgbClr val="1A2A3A"/>
                </a:solidFill>
                <a:latin typeface="Calibri"/>
              </a:rPr>
              <a:t xml:space="preserve"> </a:t>
            </a:r>
          </a:p>
          <a:p>
            <a:pPr algn="l">
              <a:spcBef>
                <a:spcPts val="600"/>
              </a:spcBef>
            </a:pPr>
            <a:r>
              <a:rPr sz="1200" b="1" i="0">
                <a:solidFill>
                  <a:srgbClr val="C1121F"/>
                </a:solidFill>
                <a:latin typeface="Calibri"/>
              </a:rPr>
              <a:t>Principales hallazgos</a:t>
            </a:r>
          </a:p>
          <a:p>
            <a:pPr algn="l">
              <a:spcBef>
                <a:spcPts val="600"/>
              </a:spcBef>
            </a:pPr>
            <a:r>
              <a:rPr sz="400" b="0" i="0">
                <a:solidFill>
                  <a:srgbClr val="1A2A3A"/>
                </a:solidFill>
                <a:latin typeface="Calibri"/>
              </a:rPr>
              <a:t xml:space="preserve"> 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D4DCE6"/>
                </a:solidFill>
                <a:latin typeface="Calibri"/>
              </a:rPr>
              <a:t>→  LAT / LON (-0.43): eje geográfico claro de distribución de incidentes.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D4DCE6"/>
                </a:solidFill>
                <a:latin typeface="Calibri"/>
              </a:rPr>
              <a:t>→  Sexual Orientation / Ethnicity (-0.37): correlación negativa significativa entre tipos de bias.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D4DCE6"/>
                </a:solidFill>
                <a:latin typeface="Calibri"/>
              </a:rPr>
              <a:t>→  Ethnicity / Report_Year (+0.20): tendencia creciente de este tipo de bias.</a:t>
            </a:r>
          </a:p>
        </p:txBody>
      </p:sp>
      <p:pic>
        <p:nvPicPr>
          <p:cNvPr id="11" name="Picture 10" descr="chart_corr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737360"/>
            <a:ext cx="72694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88CA0"/>
                </a:solidFill>
                <a:latin typeface="Calibri"/>
              </a:rPr>
              <a:t>13 / TIPOS DE DELITO Y BIAS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530352"/>
            <a:ext cx="54864" cy="9144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Distribución de delitos por tipo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4DCE6"/>
                </a:solidFill>
                <a:latin typeface="Calibri"/>
              </a:rPr>
              <a:t>Top 10 tipos de delito y distribución por bias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27632"/>
            <a:ext cx="11430000" cy="22860"/>
          </a:xfrm>
          <a:prstGeom prst="rect">
            <a:avLst/>
          </a:prstGeom>
          <a:solidFill>
            <a:srgbClr val="2C3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art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783080"/>
            <a:ext cx="5596128" cy="4663440"/>
          </a:xfrm>
          <a:prstGeom prst="rect">
            <a:avLst/>
          </a:prstGeom>
        </p:spPr>
      </p:pic>
      <p:pic>
        <p:nvPicPr>
          <p:cNvPr id="9" name="Picture 8" descr="chart_b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783080"/>
            <a:ext cx="5650992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6F8A"/>
                </a:solidFill>
                <a:latin typeface="Calibri"/>
              </a:rPr>
              <a:t>15 / ANÁLISIS GEOGRÁFICO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530352"/>
            <a:ext cx="54864" cy="9144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2A3A"/>
                </a:solidFill>
                <a:latin typeface="Cambria"/>
              </a:rPr>
              <a:t>Visualización geográfica de incidentes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88CA0"/>
                </a:solidFill>
                <a:latin typeface="Calibri"/>
              </a:rPr>
              <a:t>Distribución por distrito policial y por ward (barrio)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27632"/>
            <a:ext cx="11430000" cy="22860"/>
          </a:xfrm>
          <a:prstGeom prst="rect">
            <a:avLst/>
          </a:prstGeom>
          <a:solidFill>
            <a:srgbClr val="D4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783080"/>
            <a:ext cx="41605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1783080"/>
            <a:ext cx="45720" cy="4754880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901952"/>
            <a:ext cx="3794760" cy="3085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dirty="0" err="1">
                <a:solidFill>
                  <a:srgbClr val="4A6F8A"/>
                </a:solidFill>
                <a:latin typeface="Calibri"/>
              </a:rPr>
              <a:t>Objetivo</a:t>
            </a:r>
            <a:r>
              <a:rPr sz="1200" b="1" i="0" dirty="0">
                <a:solidFill>
                  <a:srgbClr val="4A6F8A"/>
                </a:solidFill>
                <a:latin typeface="Calibri"/>
              </a:rPr>
              <a:t xml:space="preserve"> del </a:t>
            </a:r>
            <a:r>
              <a:rPr sz="1200" b="1" i="0" dirty="0" err="1">
                <a:solidFill>
                  <a:srgbClr val="4A6F8A"/>
                </a:solidFill>
                <a:latin typeface="Calibri"/>
              </a:rPr>
              <a:t>mapa</a:t>
            </a:r>
            <a:endParaRPr sz="1200" b="1" i="0" dirty="0">
              <a:solidFill>
                <a:srgbClr val="4A6F8A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r>
              <a:rPr sz="400" b="0" i="0" dirty="0">
                <a:solidFill>
                  <a:srgbClr val="1A2A3A"/>
                </a:solidFill>
                <a:latin typeface="Calibri"/>
              </a:rPr>
              <a:t xml:space="preserve"> </a:t>
            </a:r>
          </a:p>
          <a:p>
            <a:pPr algn="l">
              <a:spcBef>
                <a:spcPts val="400"/>
              </a:spcBef>
            </a:pPr>
            <a:r>
              <a:rPr sz="1250" b="0" i="0" dirty="0">
                <a:solidFill>
                  <a:srgbClr val="1A2A3A"/>
                </a:solidFill>
                <a:latin typeface="Calibri"/>
              </a:rPr>
              <a:t xml:space="preserve">→  </a:t>
            </a:r>
            <a:r>
              <a:rPr sz="1250" b="0" i="0" dirty="0" err="1">
                <a:solidFill>
                  <a:srgbClr val="1A2A3A"/>
                </a:solidFill>
                <a:latin typeface="Calibri"/>
              </a:rPr>
              <a:t>Detectar</a:t>
            </a:r>
            <a:r>
              <a:rPr sz="1250" b="0" i="0" dirty="0">
                <a:solidFill>
                  <a:srgbClr val="1A2A3A"/>
                </a:solidFill>
                <a:latin typeface="Calibri"/>
              </a:rPr>
              <a:t xml:space="preserve"> zonas de mayor </a:t>
            </a:r>
            <a:r>
              <a:rPr sz="1250" b="0" i="0" dirty="0" err="1">
                <a:solidFill>
                  <a:srgbClr val="1A2A3A"/>
                </a:solidFill>
                <a:latin typeface="Calibri"/>
              </a:rPr>
              <a:t>concentración</a:t>
            </a:r>
            <a:endParaRPr sz="1250" b="0" i="0" dirty="0">
              <a:solidFill>
                <a:srgbClr val="1A2A3A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250" b="0" i="0" dirty="0">
                <a:solidFill>
                  <a:srgbClr val="1A2A3A"/>
                </a:solidFill>
                <a:latin typeface="Calibri"/>
              </a:rPr>
              <a:t xml:space="preserve">→  </a:t>
            </a:r>
            <a:r>
              <a:rPr sz="1250" b="0" i="0" dirty="0" err="1">
                <a:solidFill>
                  <a:srgbClr val="1A2A3A"/>
                </a:solidFill>
                <a:latin typeface="Calibri"/>
              </a:rPr>
              <a:t>Representar</a:t>
            </a:r>
            <a:r>
              <a:rPr sz="1250" b="0" i="0" dirty="0">
                <a:solidFill>
                  <a:srgbClr val="1A2A3A"/>
                </a:solidFill>
                <a:latin typeface="Calibri"/>
              </a:rPr>
              <a:t xml:space="preserve"> </a:t>
            </a:r>
            <a:r>
              <a:rPr sz="1250" b="0" i="0" dirty="0" err="1">
                <a:solidFill>
                  <a:srgbClr val="1A2A3A"/>
                </a:solidFill>
                <a:latin typeface="Calibri"/>
              </a:rPr>
              <a:t>coordenadas</a:t>
            </a:r>
            <a:r>
              <a:rPr sz="1250" b="0" i="0" dirty="0">
                <a:solidFill>
                  <a:srgbClr val="1A2A3A"/>
                </a:solidFill>
                <a:latin typeface="Calibri"/>
              </a:rPr>
              <a:t xml:space="preserve"> </a:t>
            </a:r>
            <a:r>
              <a:rPr sz="1250" b="0" i="0" dirty="0" err="1">
                <a:solidFill>
                  <a:srgbClr val="1A2A3A"/>
                </a:solidFill>
                <a:latin typeface="Calibri"/>
              </a:rPr>
              <a:t>geográficas</a:t>
            </a:r>
            <a:r>
              <a:rPr sz="1250" b="0" i="0" dirty="0">
                <a:solidFill>
                  <a:srgbClr val="1A2A3A"/>
                </a:solidFill>
                <a:latin typeface="Calibri"/>
              </a:rPr>
              <a:t xml:space="preserve"> </a:t>
            </a:r>
            <a:r>
              <a:rPr sz="1250" b="0" i="0" dirty="0" err="1">
                <a:solidFill>
                  <a:srgbClr val="1A2A3A"/>
                </a:solidFill>
                <a:latin typeface="Calibri"/>
              </a:rPr>
              <a:t>reales</a:t>
            </a:r>
            <a:endParaRPr sz="1250" b="0" i="0" dirty="0">
              <a:solidFill>
                <a:srgbClr val="1A2A3A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250" b="0" i="0" dirty="0">
                <a:solidFill>
                  <a:srgbClr val="1A2A3A"/>
                </a:solidFill>
                <a:latin typeface="Calibri"/>
              </a:rPr>
              <a:t xml:space="preserve">→  </a:t>
            </a:r>
            <a:r>
              <a:rPr sz="1250" b="0" i="0" dirty="0" err="1">
                <a:solidFill>
                  <a:srgbClr val="1A2A3A"/>
                </a:solidFill>
                <a:latin typeface="Calibri"/>
              </a:rPr>
              <a:t>Facilitar</a:t>
            </a:r>
            <a:r>
              <a:rPr sz="1250" b="0" i="0" dirty="0">
                <a:solidFill>
                  <a:srgbClr val="1A2A3A"/>
                </a:solidFill>
                <a:latin typeface="Calibri"/>
              </a:rPr>
              <a:t xml:space="preserve"> la </a:t>
            </a:r>
            <a:r>
              <a:rPr sz="1250" b="0" i="0" dirty="0" err="1">
                <a:solidFill>
                  <a:srgbClr val="1A2A3A"/>
                </a:solidFill>
                <a:latin typeface="Calibri"/>
              </a:rPr>
              <a:t>interpretación</a:t>
            </a:r>
            <a:r>
              <a:rPr sz="1250" b="0" i="0" dirty="0">
                <a:solidFill>
                  <a:srgbClr val="1A2A3A"/>
                </a:solidFill>
                <a:latin typeface="Calibri"/>
              </a:rPr>
              <a:t xml:space="preserve"> </a:t>
            </a:r>
            <a:r>
              <a:rPr sz="1250" b="0" i="0" dirty="0" err="1">
                <a:solidFill>
                  <a:srgbClr val="1A2A3A"/>
                </a:solidFill>
                <a:latin typeface="Calibri"/>
              </a:rPr>
              <a:t>espacial</a:t>
            </a:r>
            <a:endParaRPr lang="es-ES" sz="1250" b="0" i="0" dirty="0">
              <a:solidFill>
                <a:srgbClr val="1A2A3A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endParaRPr lang="es-ES" sz="1250" dirty="0">
              <a:solidFill>
                <a:srgbClr val="1A2A3A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lang="es-ES" sz="1250" dirty="0">
                <a:solidFill>
                  <a:srgbClr val="1A2A3A"/>
                </a:solidFill>
                <a:latin typeface="Calibri"/>
              </a:rPr>
              <a:t>Distritos 2D y 3D concentran los casos</a:t>
            </a:r>
          </a:p>
          <a:p>
            <a:pPr algn="l">
              <a:spcBef>
                <a:spcPts val="400"/>
              </a:spcBef>
            </a:pPr>
            <a:r>
              <a:rPr lang="es-ES" sz="1250" b="0" i="0" dirty="0">
                <a:solidFill>
                  <a:srgbClr val="1A2A3A"/>
                </a:solidFill>
                <a:latin typeface="Calibri"/>
              </a:rPr>
              <a:t>Ward 2 32% de los casos</a:t>
            </a:r>
            <a:endParaRPr sz="1250" b="0" i="0" dirty="0">
              <a:solidFill>
                <a:srgbClr val="1A2A3A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r>
              <a:rPr sz="500" b="0" i="0" dirty="0">
                <a:solidFill>
                  <a:srgbClr val="1A2A3A"/>
                </a:solidFill>
                <a:latin typeface="Calibri"/>
              </a:rPr>
              <a:t xml:space="preserve"> </a:t>
            </a:r>
          </a:p>
          <a:p>
            <a:pPr algn="l">
              <a:spcBef>
                <a:spcPts val="600"/>
              </a:spcBef>
            </a:pPr>
            <a:r>
              <a:rPr sz="1200" b="1" i="0" dirty="0">
                <a:solidFill>
                  <a:srgbClr val="4A6F8A"/>
                </a:solidFill>
                <a:latin typeface="Calibri"/>
              </a:rPr>
              <a:t xml:space="preserve">Stack </a:t>
            </a:r>
            <a:r>
              <a:rPr sz="1200" b="1" i="0" dirty="0" err="1">
                <a:solidFill>
                  <a:srgbClr val="4A6F8A"/>
                </a:solidFill>
                <a:latin typeface="Calibri"/>
              </a:rPr>
              <a:t>técnico</a:t>
            </a:r>
            <a:endParaRPr sz="1200" b="1" i="0" dirty="0">
              <a:solidFill>
                <a:srgbClr val="4A6F8A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r>
              <a:rPr sz="400" b="0" i="0" dirty="0">
                <a:solidFill>
                  <a:srgbClr val="1A2A3A"/>
                </a:solidFill>
                <a:latin typeface="Calibri"/>
              </a:rPr>
              <a:t xml:space="preserve"> </a:t>
            </a:r>
          </a:p>
          <a:p>
            <a:pPr algn="l">
              <a:spcBef>
                <a:spcPts val="200"/>
              </a:spcBef>
            </a:pPr>
            <a:r>
              <a:rPr sz="1250" b="0" i="0" dirty="0">
                <a:solidFill>
                  <a:srgbClr val="1A2A3A"/>
                </a:solidFill>
                <a:latin typeface="Calibri"/>
              </a:rPr>
              <a:t>Librería: Folium (Python)</a:t>
            </a:r>
          </a:p>
          <a:p>
            <a:pPr algn="l">
              <a:spcBef>
                <a:spcPts val="200"/>
              </a:spcBef>
            </a:pPr>
            <a:r>
              <a:rPr sz="1250" b="0" i="0" dirty="0">
                <a:solidFill>
                  <a:srgbClr val="1A2A3A"/>
                </a:solidFill>
                <a:latin typeface="Calibri"/>
              </a:rPr>
              <a:t>Base: OpenStreetMap</a:t>
            </a:r>
          </a:p>
          <a:p>
            <a:pPr algn="l">
              <a:spcBef>
                <a:spcPts val="200"/>
              </a:spcBef>
            </a:pPr>
            <a:r>
              <a:rPr sz="1250" b="0" i="0" dirty="0">
                <a:solidFill>
                  <a:srgbClr val="1A2A3A"/>
                </a:solidFill>
                <a:latin typeface="Calibri"/>
              </a:rPr>
              <a:t xml:space="preserve">Output: </a:t>
            </a:r>
            <a:r>
              <a:rPr sz="1250" b="0" i="0" dirty="0" err="1">
                <a:solidFill>
                  <a:srgbClr val="1A2A3A"/>
                </a:solidFill>
                <a:latin typeface="Calibri"/>
              </a:rPr>
              <a:t>bias_crime_map.html</a:t>
            </a:r>
            <a:endParaRPr sz="1250" b="0" i="0" dirty="0">
              <a:solidFill>
                <a:srgbClr val="1A2A3A"/>
              </a:solidFill>
              <a:latin typeface="Calibri"/>
            </a:endParaRPr>
          </a:p>
        </p:txBody>
      </p:sp>
      <p:pic>
        <p:nvPicPr>
          <p:cNvPr id="11" name="Picture 10" descr="chart_distr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4708576"/>
            <a:ext cx="7269480" cy="17836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709160" y="4206240"/>
            <a:ext cx="7269480" cy="36576"/>
          </a:xfrm>
          <a:prstGeom prst="rect">
            <a:avLst/>
          </a:prstGeom>
          <a:solidFill>
            <a:srgbClr val="D4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hart_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783080"/>
            <a:ext cx="7269480" cy="28254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09160" y="6537960"/>
            <a:ext cx="7269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788CA0"/>
                </a:solidFill>
                <a:latin typeface="Calibri"/>
              </a:rPr>
              <a:t>Arriba: evolución de delitos por ward (barrio)  |  Abajo: delitos por distrito policial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6F8A"/>
                </a:solidFill>
                <a:latin typeface="Calibri"/>
              </a:rPr>
              <a:t>16 / ANÁLISIS GEOGRÁFICO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530352"/>
            <a:ext cx="54864" cy="9144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2A3A"/>
                </a:solidFill>
                <a:latin typeface="Cambria"/>
              </a:rPr>
              <a:t>Mapa de incidentes – Washington D.C.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88CA0"/>
                </a:solidFill>
                <a:latin typeface="Calibri"/>
              </a:rPr>
              <a:t>1.640 puntos georeferenciados sobre OpenStreetMap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27632"/>
            <a:ext cx="11430000" cy="22860"/>
          </a:xfrm>
          <a:prstGeom prst="rect">
            <a:avLst/>
          </a:prstGeom>
          <a:solidFill>
            <a:srgbClr val="D4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ap_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737360"/>
            <a:ext cx="88239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88CA0"/>
                </a:solidFill>
                <a:latin typeface="Calibri"/>
              </a:rPr>
              <a:t>17 / 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530352"/>
            <a:ext cx="54864" cy="9144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Resultados obtenidos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4DCE6"/>
                </a:solidFill>
                <a:latin typeface="Calibri"/>
              </a:rPr>
              <a:t>Hallazgos principales y limitaciones del análisis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27632"/>
            <a:ext cx="11430000" cy="22860"/>
          </a:xfrm>
          <a:prstGeom prst="rect">
            <a:avLst/>
          </a:prstGeom>
          <a:solidFill>
            <a:srgbClr val="2C3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828800"/>
            <a:ext cx="5650992" cy="47091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1828800"/>
            <a:ext cx="5650992" cy="457200"/>
          </a:xfrm>
          <a:prstGeom prst="rect">
            <a:avLst/>
          </a:prstGeom>
          <a:solidFill>
            <a:srgbClr val="2C3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828800"/>
            <a:ext cx="54864" cy="4709160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7" y="188366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Principales hallazgos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2560320"/>
            <a:ext cx="256032" cy="256032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" y="2478024"/>
            <a:ext cx="48463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300" dirty="0">
                <a:solidFill>
                  <a:schemeClr val="bg1"/>
                </a:solidFill>
                <a:ea typeface="Arial" panose="020B0604020202020204" pitchFamily="34" charset="0"/>
              </a:rPr>
              <a:t>L</a:t>
            </a:r>
            <a:r>
              <a:rPr lang="es-ES" sz="1300" dirty="0">
                <a:solidFill>
                  <a:schemeClr val="bg1"/>
                </a:solidFill>
                <a:effectLst/>
                <a:ea typeface="Arial" panose="020B0604020202020204" pitchFamily="34" charset="0"/>
              </a:rPr>
              <a:t>os delitos de odio en D.C. tienen una tendencia creciente desde 2015, con un pico en 2018.</a:t>
            </a:r>
            <a:r>
              <a:rPr lang="es-ES" sz="1300" dirty="0">
                <a:solidFill>
                  <a:schemeClr val="bg1"/>
                </a:solidFill>
                <a:effectLst/>
              </a:rPr>
              <a:t xml:space="preserve"> </a:t>
            </a:r>
            <a:endParaRPr sz="1300" b="0" i="0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5216" y="3419856"/>
            <a:ext cx="256032" cy="256032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" y="3310576"/>
            <a:ext cx="48463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300" dirty="0">
                <a:solidFill>
                  <a:schemeClr val="bg1"/>
                </a:solidFill>
                <a:ea typeface="Arial" panose="020B0604020202020204" pitchFamily="34" charset="0"/>
              </a:rPr>
              <a:t>H</a:t>
            </a:r>
            <a:r>
              <a:rPr lang="es-ES" sz="1300" dirty="0">
                <a:solidFill>
                  <a:schemeClr val="bg1"/>
                </a:solidFill>
                <a:effectLst/>
                <a:ea typeface="Arial" panose="020B0604020202020204" pitchFamily="34" charset="0"/>
              </a:rPr>
              <a:t>ay patrones temporales claros, tarde-noche, fines de semana, meses de verano.</a:t>
            </a:r>
            <a:r>
              <a:rPr lang="es-ES" sz="1300" dirty="0">
                <a:solidFill>
                  <a:schemeClr val="bg1"/>
                </a:solidFill>
                <a:effectLst/>
              </a:rPr>
              <a:t xml:space="preserve"> </a:t>
            </a:r>
            <a:endParaRPr sz="1300" b="0" i="0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5216" y="4279392"/>
            <a:ext cx="256032" cy="256032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" y="4206240"/>
            <a:ext cx="48463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300" dirty="0">
                <a:solidFill>
                  <a:schemeClr val="bg1"/>
                </a:solidFill>
                <a:effectLst/>
                <a:ea typeface="Arial" panose="020B0604020202020204" pitchFamily="34" charset="0"/>
              </a:rPr>
              <a:t xml:space="preserve">Sexual </a:t>
            </a:r>
            <a:r>
              <a:rPr lang="es-ES" sz="1300" dirty="0" err="1">
                <a:solidFill>
                  <a:schemeClr val="bg1"/>
                </a:solidFill>
                <a:effectLst/>
                <a:ea typeface="Arial" panose="020B0604020202020204" pitchFamily="34" charset="0"/>
              </a:rPr>
              <a:t>Orientation</a:t>
            </a:r>
            <a:r>
              <a:rPr lang="es-ES" sz="1300" dirty="0">
                <a:solidFill>
                  <a:schemeClr val="bg1"/>
                </a:solidFill>
                <a:effectLst/>
                <a:ea typeface="Arial" panose="020B0604020202020204" pitchFamily="34" charset="0"/>
              </a:rPr>
              <a:t xml:space="preserve"> y </a:t>
            </a:r>
            <a:r>
              <a:rPr lang="es-ES" sz="1300" dirty="0" err="1">
                <a:solidFill>
                  <a:schemeClr val="bg1"/>
                </a:solidFill>
                <a:effectLst/>
                <a:ea typeface="Arial" panose="020B0604020202020204" pitchFamily="34" charset="0"/>
              </a:rPr>
              <a:t>Ethnicity</a:t>
            </a:r>
            <a:r>
              <a:rPr lang="es-ES" sz="1300" dirty="0">
                <a:solidFill>
                  <a:schemeClr val="bg1"/>
                </a:solidFill>
                <a:effectLst/>
                <a:ea typeface="Arial" panose="020B0604020202020204" pitchFamily="34" charset="0"/>
              </a:rPr>
              <a:t xml:space="preserve"> son los tipos de </a:t>
            </a:r>
            <a:r>
              <a:rPr lang="es-ES" sz="1300" dirty="0" err="1">
                <a:solidFill>
                  <a:schemeClr val="bg1"/>
                </a:solidFill>
                <a:effectLst/>
                <a:ea typeface="Arial" panose="020B0604020202020204" pitchFamily="34" charset="0"/>
              </a:rPr>
              <a:t>bias</a:t>
            </a:r>
            <a:r>
              <a:rPr lang="es-ES" sz="1300" dirty="0">
                <a:solidFill>
                  <a:schemeClr val="bg1"/>
                </a:solidFill>
                <a:effectLst/>
                <a:ea typeface="Arial" panose="020B0604020202020204" pitchFamily="34" charset="0"/>
              </a:rPr>
              <a:t xml:space="preserve"> dominantes, y su evolución está vinculada al contexto político</a:t>
            </a:r>
            <a:r>
              <a:rPr lang="es-ES" sz="1300" dirty="0">
                <a:solidFill>
                  <a:schemeClr val="bg1"/>
                </a:solidFill>
                <a:effectLst/>
              </a:rPr>
              <a:t xml:space="preserve"> </a:t>
            </a:r>
            <a:endParaRPr sz="1300" b="0" i="0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85216" y="5138928"/>
            <a:ext cx="256032" cy="256032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5065776"/>
            <a:ext cx="48463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s-ES" sz="1300" dirty="0">
                <a:solidFill>
                  <a:schemeClr val="bg1"/>
                </a:solidFill>
                <a:ea typeface="Arial" panose="020B0604020202020204" pitchFamily="34" charset="0"/>
              </a:rPr>
              <a:t>L</a:t>
            </a:r>
            <a:r>
              <a:rPr lang="es-ES" sz="1300" dirty="0">
                <a:solidFill>
                  <a:schemeClr val="bg1"/>
                </a:solidFill>
                <a:effectLst/>
                <a:ea typeface="Arial" panose="020B0604020202020204" pitchFamily="34" charset="0"/>
              </a:rPr>
              <a:t>a concentración geográfica en el centro-noroeste es consistente a lo largo de todo el período.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828800"/>
            <a:ext cx="5650992" cy="47091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6309360" y="1828800"/>
            <a:ext cx="5650992" cy="457200"/>
          </a:xfrm>
          <a:prstGeom prst="rect">
            <a:avLst/>
          </a:prstGeom>
          <a:solidFill>
            <a:srgbClr val="2C3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1828800"/>
            <a:ext cx="54864" cy="470916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188366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Limitaciones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10528" y="2560320"/>
            <a:ext cx="256032" cy="256032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3720" y="2487168"/>
            <a:ext cx="4846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CE6"/>
                </a:solidFill>
                <a:latin typeface="Calibri"/>
              </a:rPr>
              <a:t>Datos incompletos en algunas variables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10528" y="3419856"/>
            <a:ext cx="256032" cy="256032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03720" y="3346704"/>
            <a:ext cx="4846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CE6"/>
                </a:solidFill>
                <a:latin typeface="Calibri"/>
              </a:rPr>
              <a:t>Posibles sesgos en los registros oficiales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10528" y="4279392"/>
            <a:ext cx="256032" cy="256032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03720" y="4206240"/>
            <a:ext cx="4846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CE6"/>
                </a:solidFill>
                <a:latin typeface="Calibri"/>
              </a:rPr>
              <a:t>Limitaciones temporales del dataset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10528" y="5138928"/>
            <a:ext cx="256032" cy="256032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03720" y="5065776"/>
            <a:ext cx="4846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CE6"/>
                </a:solidFill>
                <a:latin typeface="Calibri"/>
              </a:rPr>
              <a:t>Ausencia de algunas variables relevantes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6F8A"/>
                </a:solidFill>
                <a:latin typeface="Calibri"/>
              </a:rPr>
              <a:t>18 / 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530352"/>
            <a:ext cx="54864" cy="9144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2A3A"/>
                </a:solidFill>
                <a:latin typeface="Cambria"/>
              </a:rPr>
              <a:t>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88CA0"/>
                </a:solidFill>
                <a:latin typeface="Calibri"/>
              </a:rPr>
              <a:t>Aprendizajes técnicos y valor del análisis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27632"/>
            <a:ext cx="11430000" cy="22860"/>
          </a:xfrm>
          <a:prstGeom prst="rect">
            <a:avLst/>
          </a:prstGeom>
          <a:solidFill>
            <a:srgbClr val="D4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828800"/>
            <a:ext cx="5650992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1828800"/>
            <a:ext cx="45720" cy="4709160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7" y="1883664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 dirty="0">
                <a:solidFill>
                  <a:srgbClr val="1A2A3A"/>
                </a:solidFill>
                <a:latin typeface="Calibri"/>
              </a:rPr>
              <a:t xml:space="preserve">Este </a:t>
            </a:r>
            <a:r>
              <a:rPr sz="1300" b="1" i="1" dirty="0" err="1">
                <a:solidFill>
                  <a:srgbClr val="1A2A3A"/>
                </a:solidFill>
                <a:latin typeface="Calibri"/>
              </a:rPr>
              <a:t>proyecto</a:t>
            </a:r>
            <a:r>
              <a:rPr sz="1300" b="1" i="1" dirty="0">
                <a:solidFill>
                  <a:srgbClr val="1A2A3A"/>
                </a:solidFill>
                <a:latin typeface="Calibri"/>
              </a:rPr>
              <a:t xml:space="preserve"> </a:t>
            </a:r>
            <a:r>
              <a:rPr lang="es-ES" sz="1300" b="1" i="1" dirty="0">
                <a:solidFill>
                  <a:srgbClr val="1A2A3A"/>
                </a:solidFill>
                <a:latin typeface="Calibri"/>
              </a:rPr>
              <a:t xml:space="preserve">me </a:t>
            </a:r>
            <a:r>
              <a:rPr sz="1300" b="1" i="1" dirty="0" err="1">
                <a:solidFill>
                  <a:srgbClr val="1A2A3A"/>
                </a:solidFill>
                <a:latin typeface="Calibri"/>
              </a:rPr>
              <a:t>permitió</a:t>
            </a:r>
            <a:r>
              <a:rPr sz="1300" b="1" i="1" dirty="0">
                <a:solidFill>
                  <a:srgbClr val="1A2A3A"/>
                </a:solidFill>
                <a:latin typeface="Calibri"/>
              </a:rPr>
              <a:t>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48716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1121F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87168"/>
            <a:ext cx="48920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3A"/>
                </a:solidFill>
                <a:latin typeface="Calibri"/>
              </a:rPr>
              <a:t>Aplicar técnicas reales de limpieza de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334670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1121F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46704"/>
            <a:ext cx="48920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3A"/>
                </a:solidFill>
                <a:latin typeface="Calibri"/>
              </a:rPr>
              <a:t>Trabajar con datos públicos oficiales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420624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1121F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48920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3A"/>
                </a:solidFill>
                <a:latin typeface="Calibri"/>
              </a:rPr>
              <a:t>Desarrollar análisis exploratorio completo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06577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1121F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65776"/>
            <a:ext cx="48920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3A"/>
                </a:solidFill>
                <a:latin typeface="Calibri"/>
              </a:rPr>
              <a:t>Generar visualizaciones geográficas útiles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828800"/>
            <a:ext cx="5650992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1828800"/>
            <a:ext cx="45720" cy="4709160"/>
          </a:xfrm>
          <a:prstGeom prst="rect">
            <a:avLst/>
          </a:prstGeom>
          <a:solidFill>
            <a:srgbClr val="4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18836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1A2A3A"/>
                </a:solidFill>
                <a:latin typeface="Calibri"/>
              </a:rPr>
              <a:t>Además, demuestra la importancia de: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48716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1121F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2487168"/>
            <a:ext cx="48920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3A"/>
                </a:solidFill>
                <a:latin typeface="Calibri"/>
              </a:rPr>
              <a:t>La calidad de los datos es determinante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34670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1121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3346704"/>
            <a:ext cx="48920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3A"/>
                </a:solidFill>
                <a:latin typeface="Calibri"/>
              </a:rPr>
              <a:t>La metodología de análisis marca los resultados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20624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1121F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4206240"/>
            <a:ext cx="4892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300" b="0" i="0" dirty="0">
                <a:solidFill>
                  <a:srgbClr val="1A2A3A"/>
                </a:solidFill>
                <a:latin typeface="Calibri"/>
              </a:rPr>
              <a:t>Aprender a hacer preguntas a los datos</a:t>
            </a:r>
            <a:endParaRPr sz="1300" b="0" i="0" dirty="0">
              <a:solidFill>
                <a:srgbClr val="1A2A3A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10528" y="506577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1121F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5065776"/>
            <a:ext cx="48920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3A"/>
                </a:solidFill>
                <a:latin typeface="Calibri"/>
              </a:rPr>
              <a:t>Los datos públicos tienen alto valor analítico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88CA0"/>
                </a:solidFill>
                <a:latin typeface="Calibri"/>
              </a:rPr>
              <a:t>19 / PRÓXIMOS PASOS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530352"/>
            <a:ext cx="54864" cy="9144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515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Posibles mejoras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4DCE6"/>
                </a:solidFill>
                <a:latin typeface="Calibri"/>
              </a:rPr>
              <a:t>Líneas de trabajo para extender el análisis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27632"/>
            <a:ext cx="11430000" cy="22860"/>
          </a:xfrm>
          <a:prstGeom prst="rect">
            <a:avLst/>
          </a:prstGeom>
          <a:solidFill>
            <a:srgbClr val="2C3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4048" y="1847088"/>
            <a:ext cx="5596128" cy="138988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1847088"/>
            <a:ext cx="54864" cy="1389888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95681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1121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95681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Análisis temporal avanzado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414016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CA0"/>
                </a:solidFill>
                <a:latin typeface="Calibri"/>
              </a:rPr>
              <a:t>Series temporales, estacionalidad y forecasting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847088"/>
            <a:ext cx="5596128" cy="138988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847088"/>
            <a:ext cx="54864" cy="1389888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95681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1121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5681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Clustering geográfico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14016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CA0"/>
                </a:solidFill>
                <a:latin typeface="Calibri"/>
              </a:rPr>
              <a:t>Agrupación espacial de zonas de alta concentración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3328416"/>
            <a:ext cx="5596128" cy="138988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4048" y="3328416"/>
            <a:ext cx="54864" cy="1389888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343814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1121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43814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Dashboards interactivos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3895344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CA0"/>
                </a:solidFill>
                <a:latin typeface="Calibri"/>
              </a:rPr>
              <a:t>Visualizaciones dinámicas con Plotly o Streamlit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328416"/>
            <a:ext cx="5596128" cy="138988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3328416"/>
            <a:ext cx="54864" cy="1389888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343814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1121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343814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Modelos predictivos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3895344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CA0"/>
                </a:solidFill>
                <a:latin typeface="Calibri"/>
              </a:rPr>
              <a:t>Predicción de incidentes mediante machine learning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4809744"/>
            <a:ext cx="5596128" cy="138988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91840" y="4809744"/>
            <a:ext cx="54864" cy="1389888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0" y="491947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1121F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41648" y="49194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Comparativa multi-ciudad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41648" y="537667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CA0"/>
                </a:solidFill>
                <a:latin typeface="Calibri"/>
              </a:rPr>
              <a:t>Análisis de otras ciudades o datasets similares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0" y="-731520"/>
            <a:ext cx="6400800" cy="6400800"/>
          </a:xfrm>
          <a:prstGeom prst="ellipse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3200400"/>
            <a:ext cx="4572000" cy="4572000"/>
          </a:xfrm>
          <a:prstGeom prst="ellipse">
            <a:avLst/>
          </a:prstGeom>
          <a:solidFill>
            <a:srgbClr val="0A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395728"/>
            <a:ext cx="5029200" cy="4572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82296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mbria"/>
              </a:rPr>
              <a:t>Gracias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06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4DCE6"/>
                </a:solidFill>
                <a:latin typeface="Calibri"/>
              </a:rPr>
              <a:t>¿Preguntas?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893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8CA0"/>
                </a:solidFill>
                <a:latin typeface="Calibri"/>
              </a:rPr>
              <a:t>Jose Manuel Romero García  –  Especialización Data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09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5"/>
                </a:solidFill>
                <a:latin typeface="Calibri"/>
              </a:rPr>
              <a:t>Dataset: data.gov – Bias-Related Crime Incidents (MPD)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1383</Words>
  <Application>Microsoft Macintosh PowerPoint</Application>
  <PresentationFormat>Panorámica</PresentationFormat>
  <Paragraphs>271</Paragraphs>
  <Slides>23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Usuario de Microsoft Office</cp:lastModifiedBy>
  <cp:revision>8</cp:revision>
  <dcterms:created xsi:type="dcterms:W3CDTF">2013-01-27T09:14:16Z</dcterms:created>
  <dcterms:modified xsi:type="dcterms:W3CDTF">2026-05-28T04:30:32Z</dcterms:modified>
  <cp:category/>
</cp:coreProperties>
</file>